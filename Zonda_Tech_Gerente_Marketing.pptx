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Gemini_Generated_Image_6hewy56hewy56hew-removebg-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1371600"/>
            <a:ext cx="3657600" cy="2286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7FD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Zonda Tech Chile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457200" y="4754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5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 de Posición: Gerente de Marketing Estratégico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5669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3DA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Comercial y Marketing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3DAE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5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Acerca de Zonda Tech Chile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931920" cy="4389120"/>
          </a:xfrm>
          <a:prstGeom prst="rect">
            <a:avLst/>
          </a:prstGeom>
          <a:solidFill>
            <a:srgbClr val="5FC9A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5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 la Empresa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35661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0A2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nacional en rápido crecimiento especializada en: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0A2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Dispositivos inteligentes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0A2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Accesorios tecnológicos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0A2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Periféricos gaming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0A2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innovador con proyección internacional hacia Latinoamérica en los próximos 2 años.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645920"/>
            <a:ext cx="1280160" cy="2011680"/>
          </a:xfrm>
          <a:prstGeom prst="rect">
            <a:avLst/>
          </a:prstGeom>
          <a:solidFill>
            <a:srgbClr val="2D8B7A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920240"/>
            <a:ext cx="1097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Masivo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32004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D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1280160" cy="2011680"/>
          </a:xfrm>
          <a:prstGeom prst="rect">
            <a:avLst/>
          </a:prstGeom>
          <a:solidFill>
            <a:srgbClr val="2D8B7A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1920240"/>
            <a:ext cx="1097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 regional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innovación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09360" y="32004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D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680960" y="1645920"/>
            <a:ext cx="1280160" cy="2011680"/>
          </a:xfrm>
          <a:prstGeom prst="rect">
            <a:avLst/>
          </a:prstGeom>
          <a:solidFill>
            <a:srgbClr val="2D8B7A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0" y="1920240"/>
            <a:ext cx="1097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Expansión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Latinoamericana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0" y="32004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D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D8B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3DAE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Propósito del Cargo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 de Marketing Estratégico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Misión Principal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8229600" cy="1645920"/>
          </a:xfrm>
          <a:prstGeom prst="rect">
            <a:avLst/>
          </a:prstGeom>
          <a:solidFill>
            <a:srgbClr val="1B5E4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46888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5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Diseñar, implementar y liderar la estrategia global de marketing de la empresa para aumentar la participación de mercado, fortalecer el posicionamiento de marca en el sector tecnológico y asegurar el cumplimiento de metas de ventas, garantizando una transición exitosa hacia la expansión internacional.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42062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A2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 a: Gerente General (CEO)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0A2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Supervisión: Equipo de 4 profesionales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3DAE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5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a Tu Cargo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" cy="548640"/>
          </a:xfrm>
          <a:prstGeom prst="ellipse">
            <a:avLst/>
          </a:prstGeom>
          <a:solidFill>
            <a:srgbClr val="3DAE8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71600" y="18745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5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Diseñador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548640" cy="548640"/>
          </a:xfrm>
          <a:prstGeom prst="ellipse">
            <a:avLst/>
          </a:prstGeom>
          <a:solidFill>
            <a:srgbClr val="3DAE8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834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B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71600" y="28803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5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Manager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840480"/>
            <a:ext cx="548640" cy="548640"/>
          </a:xfrm>
          <a:prstGeom prst="ellipse">
            <a:avLst/>
          </a:prstGeom>
          <a:solidFill>
            <a:srgbClr val="3DAE8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840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C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71600" y="38862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5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de Datos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846320"/>
            <a:ext cx="548640" cy="548640"/>
          </a:xfrm>
          <a:prstGeom prst="ellipse">
            <a:avLst/>
          </a:prstGeom>
          <a:solidFill>
            <a:srgbClr val="3DAE8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846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D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371600" y="48920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5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Especialista SEO/SEM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5669280"/>
            <a:ext cx="8229600" cy="822960"/>
          </a:xfrm>
          <a:prstGeom prst="rect">
            <a:avLst/>
          </a:prstGeom>
          <a:solidFill>
            <a:srgbClr val="5FC9A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7607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B5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multidisciplinario comprometido con la ejecución de estrategias innovadoras en marketing digital y tradicional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3DAE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5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y Responsabilidades Clave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65760" cy="365760"/>
          </a:xfrm>
          <a:prstGeom prst="ellipse">
            <a:avLst/>
          </a:prstGeom>
          <a:solidFill>
            <a:srgbClr val="3DAE8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645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Elaborar y gestionar el presupuesto anual del departamento de marketing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365760" cy="365760"/>
          </a:xfrm>
          <a:prstGeom prst="ellipse">
            <a:avLst/>
          </a:prstGeom>
          <a:solidFill>
            <a:srgbClr val="3DAE8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2606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campañas de lanzamiento para nuevos productos y líneas tecnológicas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566160"/>
            <a:ext cx="365760" cy="365760"/>
          </a:xfrm>
          <a:prstGeom prst="ellipse">
            <a:avLst/>
          </a:prstGeom>
          <a:solidFill>
            <a:srgbClr val="3DAE8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constantemente competencia, tendencias y comportamiento del mercado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526280"/>
            <a:ext cx="365760" cy="365760"/>
          </a:xfrm>
          <a:prstGeom prst="ellipse">
            <a:avLst/>
          </a:prstGeom>
          <a:solidFill>
            <a:srgbClr val="3DAE8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4526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Establecer alianzas estratégicas con influencers, marcas y distribuidores retail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486400"/>
            <a:ext cx="365760" cy="365760"/>
          </a:xfrm>
          <a:prstGeom prst="ellipse">
            <a:avLst/>
          </a:prstGeom>
          <a:solidFill>
            <a:srgbClr val="3DAE8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486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5486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2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y monitorear KPIs de todas las acciones de marketing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5E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3DAE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Contratación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Formales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Estudios Requeridos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Ingeniería Comercial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Ingeniería Ejecución Marketing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Publicidad o carrera afín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FD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Deseable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42062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Diplomado o Magíster en Marketing Digital, Dirección de Marketing o Estrategia de Negocios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737360"/>
            <a:ext cx="3931920" cy="4389120"/>
          </a:xfrm>
          <a:prstGeom prst="rect">
            <a:avLst/>
          </a:prstGeom>
          <a:solidFill>
            <a:srgbClr val="2D8B7A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9202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 Competitivas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24688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Experiencia en startups tech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31089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Gestión de equipos de alto desempeño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3749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Network en industria gaming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43891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Experiencia en mercados internacionales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D8B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3DAE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Conocimientos Técnicos Requeridos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Skills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solidFill>
            <a:srgbClr val="1B5E4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965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D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Datos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08960" y="19659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Analytics, BI Tools, simulación de negocios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971800"/>
            <a:ext cx="8229600" cy="822960"/>
          </a:xfrm>
          <a:prstGeom prst="rect">
            <a:avLst/>
          </a:prstGeom>
          <a:solidFill>
            <a:srgbClr val="1B5E4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0175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D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Digital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08960" y="301752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SEO, SEM, Inbound Marketing, Trade Marketing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solidFill>
            <a:srgbClr val="1B5E4C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069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D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Financiera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08960" y="406908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Presupuestos, proyecciones financieras básicas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5074920"/>
            <a:ext cx="8229600" cy="822960"/>
          </a:xfrm>
          <a:prstGeom prst="rect">
            <a:avLst/>
          </a:prstGeom>
          <a:solidFill>
            <a:srgbClr val="1B5E4C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51206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D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Idioma Inglés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08960" y="512064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avanzado (indispensable para expansión internacional)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3DAE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5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Habilidades Personales Clave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457200" cy="457200"/>
          </a:xfrm>
          <a:prstGeom prst="rect">
            <a:avLst/>
          </a:prstGeom>
          <a:solidFill>
            <a:srgbClr val="3DAE8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05840" y="1828800"/>
            <a:ext cx="7680960" cy="457200"/>
          </a:xfrm>
          <a:prstGeom prst="rect">
            <a:avLst/>
          </a:prstGeom>
          <a:solidFill>
            <a:srgbClr val="5FC9A0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85623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Liderazgo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108960" y="185623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2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Inspirar y guiar equipos multidisciplinarios hacia objetivos comunes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457200" cy="457200"/>
          </a:xfrm>
          <a:prstGeom prst="rect">
            <a:avLst/>
          </a:prstGeom>
          <a:solidFill>
            <a:srgbClr val="3DAE8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05840" y="2926080"/>
            <a:ext cx="7680960" cy="457200"/>
          </a:xfrm>
          <a:prstGeom prst="rect">
            <a:avLst/>
          </a:prstGeom>
          <a:solidFill>
            <a:srgbClr val="5FC9A0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295351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Estratégica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108960" y="295351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2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el panorama completo del negocio, no solo tácticas del día a día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023360"/>
            <a:ext cx="457200" cy="457200"/>
          </a:xfrm>
          <a:prstGeom prst="rect">
            <a:avLst/>
          </a:prstGeom>
          <a:solidFill>
            <a:srgbClr val="3DAE8A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05840" y="4023360"/>
            <a:ext cx="7680960" cy="457200"/>
          </a:xfrm>
          <a:prstGeom prst="rect">
            <a:avLst/>
          </a:prstGeom>
          <a:solidFill>
            <a:srgbClr val="5FC9A0"/>
          </a:solidFill>
          <a:ln/>
        </p:spPr>
      </p:sp>
      <p:sp>
        <p:nvSpPr>
          <p:cNvPr id="17" name="Text 15"/>
          <p:cNvSpPr/>
          <p:nvPr/>
        </p:nvSpPr>
        <p:spPr>
          <a:xfrm>
            <a:off x="1188720" y="40507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Adaptabilidad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108960" y="405079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2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Pivotar estrategias rápidamente en respuesta a cambios del mercado tech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5120640"/>
            <a:ext cx="457200" cy="457200"/>
          </a:xfrm>
          <a:prstGeom prst="rect">
            <a:avLst/>
          </a:prstGeom>
          <a:solidFill>
            <a:srgbClr val="3DAE8A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5120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05840" y="5120640"/>
            <a:ext cx="7680960" cy="457200"/>
          </a:xfrm>
          <a:prstGeom prst="rect">
            <a:avLst/>
          </a:prstGeom>
          <a:solidFill>
            <a:srgbClr val="5FC9A0"/>
          </a:solidFill>
          <a:ln/>
        </p:spPr>
      </p:sp>
      <p:sp>
        <p:nvSpPr>
          <p:cNvPr id="22" name="Text 20"/>
          <p:cNvSpPr/>
          <p:nvPr/>
        </p:nvSpPr>
        <p:spPr>
          <a:xfrm>
            <a:off x="1188720" y="514807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y Persuasión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108960" y="514807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2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Negociar presupuestos con directorio y convencer en mensajería de marca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3DAE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5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del Mercado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651760" cy="3200400"/>
          </a:xfrm>
          <a:prstGeom prst="rect">
            <a:avLst/>
          </a:prstGeom>
          <a:solidFill>
            <a:srgbClr val="5FC9A0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2011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Objetivo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25603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5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América Latina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3657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A2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450M personas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828800"/>
            <a:ext cx="2651760" cy="3200400"/>
          </a:xfrm>
          <a:prstGeom prst="rect">
            <a:avLst/>
          </a:prstGeom>
          <a:solidFill>
            <a:srgbClr val="5FC9A0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011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Tech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20440" y="25603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5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18%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520440" y="3657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A2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2024-2026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1828800"/>
            <a:ext cx="2651760" cy="3200400"/>
          </a:xfrm>
          <a:prstGeom prst="rect">
            <a:avLst/>
          </a:prstGeom>
          <a:solidFill>
            <a:srgbClr val="5FC9A0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2011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Gaming Market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46520" y="25603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5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+25% anual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46520" y="3657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A2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 Premium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3DAE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5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Organizacional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657600" y="1828800"/>
            <a:ext cx="1828800" cy="548640"/>
          </a:xfrm>
          <a:prstGeom prst="rect">
            <a:avLst/>
          </a:prstGeom>
          <a:solidFill>
            <a:srgbClr val="1B5E4C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0" y="18288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 General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(CEO)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0" y="2377440"/>
            <a:ext cx="0" cy="548640"/>
          </a:xfrm>
          <a:prstGeom prst="line">
            <a:avLst/>
          </a:prstGeom>
          <a:noFill/>
          <a:ln w="25400">
            <a:solidFill>
              <a:srgbClr val="3DAE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0" y="3017520"/>
            <a:ext cx="2743200" cy="640080"/>
          </a:xfrm>
          <a:prstGeom prst="rect">
            <a:avLst/>
          </a:prstGeom>
          <a:solidFill>
            <a:srgbClr val="2D8B7A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30175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Gerente de Marketing Estratégico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3657600"/>
            <a:ext cx="0" cy="548640"/>
          </a:xfrm>
          <a:prstGeom prst="line">
            <a:avLst/>
          </a:prstGeom>
          <a:noFill/>
          <a:ln w="25400">
            <a:solidFill>
              <a:srgbClr val="3DAE8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4297680"/>
            <a:ext cx="1645920" cy="731520"/>
          </a:xfrm>
          <a:prstGeom prst="rect">
            <a:avLst/>
          </a:prstGeom>
          <a:solidFill>
            <a:srgbClr val="5FC9A0"/>
          </a:solidFill>
          <a:ln w="25400">
            <a:solidFill>
              <a:srgbClr val="3DAE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2976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Diseñador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5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554480" y="3657600"/>
            <a:ext cx="0" cy="640080"/>
          </a:xfrm>
          <a:prstGeom prst="line">
            <a:avLst/>
          </a:prstGeom>
          <a:noFill/>
          <a:ln w="12700">
            <a:solidFill>
              <a:srgbClr val="3DAE8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97480" y="4297680"/>
            <a:ext cx="1645920" cy="731520"/>
          </a:xfrm>
          <a:prstGeom prst="rect">
            <a:avLst/>
          </a:prstGeom>
          <a:solidFill>
            <a:srgbClr val="5FC9A0"/>
          </a:solidFill>
          <a:ln w="25400">
            <a:solidFill>
              <a:srgbClr val="3DAE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97480" y="42976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5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520440" y="3657600"/>
            <a:ext cx="0" cy="640080"/>
          </a:xfrm>
          <a:prstGeom prst="line">
            <a:avLst/>
          </a:prstGeom>
          <a:noFill/>
          <a:ln w="12700">
            <a:solidFill>
              <a:srgbClr val="3DAE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4297680"/>
            <a:ext cx="1645920" cy="731520"/>
          </a:xfrm>
          <a:prstGeom prst="rect">
            <a:avLst/>
          </a:prstGeom>
          <a:solidFill>
            <a:srgbClr val="5FC9A0"/>
          </a:solidFill>
          <a:ln w="25400">
            <a:solidFill>
              <a:srgbClr val="3DAE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42976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5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Datos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0" y="3657600"/>
            <a:ext cx="0" cy="640080"/>
          </a:xfrm>
          <a:prstGeom prst="line">
            <a:avLst/>
          </a:prstGeom>
          <a:noFill/>
          <a:ln w="12700">
            <a:solidFill>
              <a:srgbClr val="3DAE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29400" y="4297680"/>
            <a:ext cx="1645920" cy="731520"/>
          </a:xfrm>
          <a:prstGeom prst="rect">
            <a:avLst/>
          </a:prstGeom>
          <a:solidFill>
            <a:srgbClr val="5FC9A0"/>
          </a:solidFill>
          <a:ln w="25400">
            <a:solidFill>
              <a:srgbClr val="3DAE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42976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5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Especialista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5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SEO/SEM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452360" y="3657600"/>
            <a:ext cx="0" cy="640080"/>
          </a:xfrm>
          <a:prstGeom prst="line">
            <a:avLst/>
          </a:prstGeom>
          <a:noFill/>
          <a:ln w="12700">
            <a:solidFill>
              <a:srgbClr val="3DAE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5669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A2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presupuesto, campañas, alianzas estratégicas y KPIs corporativos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3DAE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5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Primeros 100 Días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457200" cy="457200"/>
          </a:xfrm>
          <a:prstGeom prst="ellipse">
            <a:avLst/>
          </a:prstGeom>
          <a:solidFill>
            <a:srgbClr val="3DAE8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51560" y="1737360"/>
            <a:ext cx="7589520" cy="457200"/>
          </a:xfrm>
          <a:prstGeom prst="rect">
            <a:avLst/>
          </a:prstGeom>
          <a:solidFill>
            <a:srgbClr val="5FC9A0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783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(Días 1-30)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26080" y="1783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e Integración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8720" y="23774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Auditoría marketing actual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274320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Alineación con directivos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88720" y="310896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Conocimiento de productos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457200" cy="457200"/>
          </a:xfrm>
          <a:prstGeom prst="ellipse">
            <a:avLst/>
          </a:prstGeom>
          <a:solidFill>
            <a:srgbClr val="3DAE8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51560" y="3794760"/>
            <a:ext cx="7589520" cy="457200"/>
          </a:xfrm>
          <a:prstGeom prst="rect">
            <a:avLst/>
          </a:prstGeom>
          <a:solidFill>
            <a:srgbClr val="5FC9A0"/>
          </a:solidFill>
          <a:ln/>
        </p:spPr>
      </p:sp>
      <p:sp>
        <p:nvSpPr>
          <p:cNvPr id="15" name="Text 13"/>
          <p:cNvSpPr/>
          <p:nvPr/>
        </p:nvSpPr>
        <p:spPr>
          <a:xfrm>
            <a:off x="1188720" y="3840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(Días 31-65)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926080" y="3840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y Planificación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88720" y="44348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Plan marketing 2026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88720" y="480060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Definición de KPIs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88720" y="516636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Roadmap digital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5852160"/>
            <a:ext cx="457200" cy="457200"/>
          </a:xfrm>
          <a:prstGeom prst="ellipse">
            <a:avLst/>
          </a:prstGeom>
          <a:solidFill>
            <a:srgbClr val="3DAE8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5852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51560" y="5852160"/>
            <a:ext cx="7589520" cy="457200"/>
          </a:xfrm>
          <a:prstGeom prst="rect">
            <a:avLst/>
          </a:prstGeom>
          <a:solidFill>
            <a:srgbClr val="5FC9A0"/>
          </a:solidFill>
          <a:ln/>
        </p:spPr>
      </p:sp>
      <p:sp>
        <p:nvSpPr>
          <p:cNvPr id="23" name="Text 21"/>
          <p:cNvSpPr/>
          <p:nvPr/>
        </p:nvSpPr>
        <p:spPr>
          <a:xfrm>
            <a:off x="1188720" y="58978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8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(Días 66-100)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926080" y="5897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Inicial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88720" y="649224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Lanzamiento campañas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88720" y="685800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Establecer alianzas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88720" y="722376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F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Reporte de resultados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3DAE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5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Clave de Desempeño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606040" cy="1371600"/>
          </a:xfrm>
          <a:prstGeom prst="rect">
            <a:avLst/>
          </a:prstGeom>
          <a:solidFill>
            <a:srgbClr val="2D8B7A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9202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Marketing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23317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FD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+45%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27889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828800"/>
            <a:ext cx="2606040" cy="1371600"/>
          </a:xfrm>
          <a:prstGeom prst="rect">
            <a:avLst/>
          </a:prstGeom>
          <a:solidFill>
            <a:srgbClr val="2D8B7A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0" y="19202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(Cost per Acquisition)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29000" y="23317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FD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-20%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29000" y="27889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2024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828800"/>
            <a:ext cx="2606040" cy="1371600"/>
          </a:xfrm>
          <a:prstGeom prst="rect">
            <a:avLst/>
          </a:prstGeom>
          <a:solidFill>
            <a:srgbClr val="2D8B7A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19202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Awareness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63640" y="23317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FD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+60%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263640" y="27889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LATAM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2606040" cy="1371600"/>
          </a:xfrm>
          <a:prstGeom prst="rect">
            <a:avLst/>
          </a:prstGeom>
          <a:solidFill>
            <a:srgbClr val="2D8B7A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7490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Share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41605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FD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+15%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94360" y="46177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 Tech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91840" y="3657600"/>
            <a:ext cx="2606040" cy="1371600"/>
          </a:xfrm>
          <a:prstGeom prst="rect">
            <a:avLst/>
          </a:prstGeom>
          <a:solidFill>
            <a:srgbClr val="2D8B7A"/>
          </a:solidFill>
          <a:ln/>
        </p:spPr>
      </p:sp>
      <p:sp>
        <p:nvSpPr>
          <p:cNvPr id="21" name="Text 19"/>
          <p:cNvSpPr/>
          <p:nvPr/>
        </p:nvSpPr>
        <p:spPr>
          <a:xfrm>
            <a:off x="3429000" y="37490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29000" y="41605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FD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+35%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429000" y="46177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3657600"/>
            <a:ext cx="2606040" cy="1371600"/>
          </a:xfrm>
          <a:prstGeom prst="rect">
            <a:avLst/>
          </a:prstGeom>
          <a:solidFill>
            <a:srgbClr val="2D8B7A"/>
          </a:solidFill>
          <a:ln/>
        </p:spPr>
      </p:sp>
      <p:sp>
        <p:nvSpPr>
          <p:cNvPr id="25" name="Text 23"/>
          <p:cNvSpPr/>
          <p:nvPr/>
        </p:nvSpPr>
        <p:spPr>
          <a:xfrm>
            <a:off x="6263640" y="37490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Retention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63640" y="41605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FD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+25%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263640" y="461772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 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3DAE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5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Compensación y Beneficios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560320" cy="1463040"/>
          </a:xfrm>
          <a:prstGeom prst="rect">
            <a:avLst/>
          </a:prstGeom>
          <a:solidFill>
            <a:srgbClr val="2D8B7A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965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Salario Competitivo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24231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Acorde a mercado LATAM senior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37560" y="1828800"/>
            <a:ext cx="2560320" cy="1463040"/>
          </a:xfrm>
          <a:prstGeom prst="rect">
            <a:avLst/>
          </a:prstGeom>
          <a:solidFill>
            <a:srgbClr val="2D8B7A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965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Bonos por Desempeño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0" y="24231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Basados en cumplimiento de KPIs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2560320" cy="1463040"/>
          </a:xfrm>
          <a:prstGeom prst="rect">
            <a:avLst/>
          </a:prstGeom>
          <a:solidFill>
            <a:srgbClr val="2D8B7A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19659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Seguros y Salud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55080" y="24231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médica integral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2560320" cy="1463040"/>
          </a:xfrm>
          <a:prstGeom prst="rect">
            <a:avLst/>
          </a:prstGeom>
          <a:solidFill>
            <a:srgbClr val="2D8B7A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794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Office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42519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días presencial, flexible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37560" y="3657600"/>
            <a:ext cx="2560320" cy="1463040"/>
          </a:xfrm>
          <a:prstGeom prst="rect">
            <a:avLst/>
          </a:prstGeom>
          <a:solidFill>
            <a:srgbClr val="2D8B7A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0" y="3794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74720" y="42519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 anual para desarrollo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3657600"/>
            <a:ext cx="2560320" cy="1463040"/>
          </a:xfrm>
          <a:prstGeom prst="rect">
            <a:avLst/>
          </a:prstGeom>
          <a:solidFill>
            <a:srgbClr val="2D8B7A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3794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 Adicionales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55080" y="42519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 alimentario y transporte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5E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3DAE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Oportunidad Única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371600" y="2011680"/>
            <a:ext cx="6400800" cy="2926080"/>
          </a:xfrm>
          <a:prstGeom prst="rect">
            <a:avLst/>
          </a:prstGeom>
          <a:solidFill>
            <a:srgbClr val="2D8B7A"/>
          </a:solidFill>
          <a:ln/>
        </p:spPr>
      </p:sp>
      <p:sp>
        <p:nvSpPr>
          <p:cNvPr id="5" name="Text 3"/>
          <p:cNvSpPr/>
          <p:nvPr/>
        </p:nvSpPr>
        <p:spPr>
          <a:xfrm>
            <a:off x="1554480" y="219456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esta es la posición ideal?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737360" y="283464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Empresa en crecimiento exponencial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737360" y="342900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Expansión internacional en construcción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737360" y="402336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Equipo joven y ágil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737360" y="461772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Innovación como ADN corporativo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5E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9144000" cy="2286000"/>
          </a:xfrm>
          <a:prstGeom prst="rect">
            <a:avLst/>
          </a:prstGeom>
          <a:solidFill>
            <a:srgbClr val="3DAE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B5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Únete al Equipo Zonda Tech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B5E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Liderando el futuro de la tecnología en Latinoamérica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8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de Contacto: reclutamiento@zondatech.cl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2026-04-01T12:40:13Z</dcterms:created>
  <dcterms:modified xsi:type="dcterms:W3CDTF">2026-04-01T12:40:13Z</dcterms:modified>
</cp:coreProperties>
</file>